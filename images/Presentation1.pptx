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147483646" r:id="rId3"/>
    <p:sldId id="26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>
        <p:scale>
          <a:sx n="106" d="100"/>
          <a:sy n="106" d="100"/>
        </p:scale>
        <p:origin x="112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B7A644-96D1-0543-BFD5-7C1AFB638F4C}" type="datetimeFigureOut">
              <a:rPr lang="en-US" smtClean="0"/>
              <a:t>4/17/26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015A4A-A770-764B-A72D-18F8C6155E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709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17043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C7BBB26-879D-5B4F-9414-30BAC13D591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ky Text"/>
                <a:ea typeface="+mn-ea"/>
                <a:cs typeface="+mn-cs"/>
              </a:rPr>
              <a:pPr marL="0" marR="0" lvl="0" indent="0" algn="r" defTabSz="117043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ky Tex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43996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51D99-AB9C-F668-2174-001D5BC821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84C7C8-45E5-43C0-B602-4967F0A851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009B38-F196-39A1-5D40-905AD50F1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12850-39AF-EF40-98E6-5C6168413073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72CBB0-D020-6357-4995-55B14274A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606CB6-E693-E3D0-DCB0-4F6E01364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8504B-1A05-1D40-843C-0B3518FED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314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643FE-AD1D-E846-6F1A-CC75B5C83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6BBC2-92C6-F656-E9F3-9FCAE55232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CA9B73-7A50-DA66-0EB5-EDF1ACFBA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12850-39AF-EF40-98E6-5C6168413073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0B19C8-03E0-FF25-9B90-F781D85D5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C5C28F-A603-A5DA-D0F4-03F278D66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8504B-1A05-1D40-843C-0B3518FED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6870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08BBA-A5A1-DBD5-9165-5592E3C0F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7F5B20-C7BF-F93D-F26B-1F278CCC39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5E0403-098D-F641-A1B6-458A5AE37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12850-39AF-EF40-98E6-5C6168413073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26B9B4-C9B9-9C63-984B-83430E03E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1F872-D5C7-7250-37C0-2AED325EA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8504B-1A05-1D40-843C-0B3518FED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472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B0FCC-51FE-04C8-9E55-72409CB7A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45907-C47F-5065-E233-4479F06F2E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DA5728-82F4-59B6-0DE4-942C4A8CDC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DF2A9F-212D-BCEA-5174-487420767F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12850-39AF-EF40-98E6-5C6168413073}" type="datetimeFigureOut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6CB7C9-22D8-5432-4B21-223DFEC7F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80C5C0-0E86-4C64-8C24-2384F9EAD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8504B-1A05-1D40-843C-0B3518FED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6471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2B3A8-5C8F-A494-16BD-74BF786C3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49BB2-70E9-7062-2BB5-F73F19A26A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90D507-9C2A-6129-C4F0-C19435F41A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2FB23C-156F-5E7B-DA14-F69E6F3CD9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76FC95-35B3-CDC6-5BA5-3A43978533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D3E84F-FA5B-7DFF-9F47-E6AA0C54B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12850-39AF-EF40-98E6-5C6168413073}" type="datetimeFigureOut">
              <a:rPr lang="en-US" smtClean="0"/>
              <a:t>4/17/26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7042D3-2085-D9F2-B4ED-6924109A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A3D3EB-6FE9-9F7B-CD46-73F3D897B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8504B-1A05-1D40-843C-0B3518FED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790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FC3FA-0A8A-9F73-D279-F58774DFD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21298D-D602-AD56-0974-59CC2F6E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12850-39AF-EF40-98E6-5C6168413073}" type="datetimeFigureOut">
              <a:rPr lang="en-US" smtClean="0"/>
              <a:t>4/17/26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0732D8-EB79-55DA-EE89-B23C5C1DD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A5302D-5C2A-FC44-2D7F-504D4737E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8504B-1A05-1D40-843C-0B3518FED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11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0DCA93-C1EC-C4A4-B0A0-9ED679EB1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12850-39AF-EF40-98E6-5C6168413073}" type="datetimeFigureOut">
              <a:rPr lang="en-US" smtClean="0"/>
              <a:t>4/17/26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CE0A22-C7DC-7909-EA42-6DE9569EB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EF10CF-0000-6546-AFEF-4A0831DE0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8504B-1A05-1D40-843C-0B3518FED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7807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53E95-FFAF-AA80-01D2-14D5C4EA5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49F780-32C4-C006-9120-97B0251B9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56C618-BD10-0511-0FAB-31B80F3D42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CBF3FE-FFDC-861C-2851-E4FC744ED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12850-39AF-EF40-98E6-5C6168413073}" type="datetimeFigureOut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928892-15C2-8541-2BFF-DA667F0AE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09A4F8-6842-9D07-BC0B-435F9727F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8504B-1A05-1D40-843C-0B3518FED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237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1FD12-6738-F057-90CB-EEBB86B9D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72C2A9-C271-2C49-1C70-8E0F57312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3E8D61-13EB-1A38-7F5A-AB60C71048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6A7527-2DD5-0CD6-1098-9DDA522CB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12850-39AF-EF40-98E6-5C6168413073}" type="datetimeFigureOut">
              <a:rPr lang="en-US" smtClean="0"/>
              <a:t>4/17/26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92C9CF-6793-6973-A1A3-EFF78757D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72420D-8898-83AE-6958-4B63918D6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8504B-1A05-1D40-843C-0B3518FED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256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28A5E-B24C-C570-6CFE-16A8024C1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DF3E36-FC9C-F058-29F4-36ACC4A3C6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7873E-6223-2BC1-A0EA-60DD0E78B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12850-39AF-EF40-98E6-5C6168413073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EE99EE-4B0F-403D-5269-DB2DAF535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AAC4C0-1E09-16F9-F3EA-884F35385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8504B-1A05-1D40-843C-0B3518FED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02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D567DC-98F8-293A-A262-5CA273EE37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86AA0E-1C6A-0935-634F-8F954FA2F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E379AB-732C-2098-9D59-7AF7055AB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12850-39AF-EF40-98E6-5C6168413073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E47579-DA92-58B0-EC89-8D54313DA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B7EAD3-3B09-6192-646A-1F23E7F79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38504B-1A05-1D40-843C-0B3518FED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4539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Break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EA091BE-5AB4-8842-A985-C26B3FAE0987}"/>
              </a:ext>
            </a:extLst>
          </p:cNvPr>
          <p:cNvSpPr/>
          <p:nvPr userDrawn="1"/>
        </p:nvSpPr>
        <p:spPr>
          <a:xfrm>
            <a:off x="297649" y="293538"/>
            <a:ext cx="11596705" cy="6270928"/>
          </a:xfrm>
          <a:prstGeom prst="rect">
            <a:avLst/>
          </a:prstGeom>
          <a:gradFill>
            <a:gsLst>
              <a:gs pos="0">
                <a:srgbClr val="FF6400"/>
              </a:gs>
              <a:gs pos="100000">
                <a:srgbClr val="FF00A5"/>
              </a:gs>
            </a:gsLst>
            <a:lin ang="2064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75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874CD87-BA88-3C46-9011-B0FD0A28F3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1756" y="3076323"/>
            <a:ext cx="10948493" cy="705355"/>
          </a:xfrm>
        </p:spPr>
        <p:txBody>
          <a:bodyPr anchor="ctr">
            <a:sp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4583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Title Sky text 44pt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034866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  <p:extLst>
    <p:ext uri="{DCECCB84-F9BA-43D5-87BE-67443E8EF086}">
      <p15:sldGuideLst xmlns:p15="http://schemas.microsoft.com/office/powerpoint/2012/main">
        <p15:guide id="1" orient="horz" pos="2073">
          <p15:clr>
            <a:srgbClr val="FBAE40"/>
          </p15:clr>
        </p15:guide>
        <p15:guide id="2" pos="368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C3D2C2-04E5-7286-ECC9-4ADA468A4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EAF923-535B-1BD2-B5B3-A27FFBCC93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ECB48-6171-BB7F-EA0D-DC0432A78E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D12850-39AF-EF40-98E6-5C6168413073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AFD1B5-F1B9-C1F0-FB16-5AF4B358BC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1FCDAE-98C3-A2E6-C077-DB24076AA4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38504B-1A05-1D40-843C-0B3518FEDC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991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4080176B-03A6-607B-2B5C-92254ECA9847}"/>
              </a:ext>
            </a:extLst>
          </p:cNvPr>
          <p:cNvGrpSpPr/>
          <p:nvPr/>
        </p:nvGrpSpPr>
        <p:grpSpPr>
          <a:xfrm>
            <a:off x="675537" y="2897933"/>
            <a:ext cx="10812616" cy="1366436"/>
            <a:chOff x="675537" y="2897933"/>
            <a:chExt cx="10812616" cy="1366436"/>
          </a:xfrm>
        </p:grpSpPr>
        <p:sp>
          <p:nvSpPr>
            <p:cNvPr id="8" name="Rectangle: Rounded Corners 5">
              <a:extLst>
                <a:ext uri="{FF2B5EF4-FFF2-40B4-BE49-F238E27FC236}">
                  <a16:creationId xmlns:a16="http://schemas.microsoft.com/office/drawing/2014/main" id="{8419B6FC-B9DD-1C1A-F947-A490F37AA1C2}"/>
                </a:ext>
              </a:extLst>
            </p:cNvPr>
            <p:cNvSpPr/>
            <p:nvPr/>
          </p:nvSpPr>
          <p:spPr>
            <a:xfrm>
              <a:off x="675537" y="2897933"/>
              <a:ext cx="10812616" cy="1366436"/>
            </a:xfrm>
            <a:prstGeom prst="roundRect">
              <a:avLst/>
            </a:prstGeom>
            <a:gradFill flip="none" rotWithShape="1">
              <a:gsLst>
                <a:gs pos="0">
                  <a:srgbClr val="FF7800"/>
                </a:gs>
                <a:gs pos="22000">
                  <a:srgbClr val="FF313C"/>
                </a:gs>
                <a:gs pos="46000">
                  <a:srgbClr val="FD01A1"/>
                </a:gs>
                <a:gs pos="83500">
                  <a:srgbClr val="0E24FF"/>
                </a:gs>
                <a:gs pos="67000">
                  <a:srgbClr val="AE1CE3"/>
                </a:gs>
                <a:gs pos="100000">
                  <a:srgbClr val="1695FF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100" dirty="0"/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03294C41-7806-118A-FCE6-F409223DF540}"/>
                </a:ext>
              </a:extLst>
            </p:cNvPr>
            <p:cNvSpPr/>
            <p:nvPr/>
          </p:nvSpPr>
          <p:spPr>
            <a:xfrm>
              <a:off x="842211" y="3043989"/>
              <a:ext cx="10503567" cy="107081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3B6BD9D-1410-6323-4AE1-93E3EE3E509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6666" t="7486" r="3836" b="12050"/>
            <a:stretch>
              <a:fillRect/>
            </a:stretch>
          </p:blipFill>
          <p:spPr>
            <a:xfrm>
              <a:off x="938716" y="3166257"/>
              <a:ext cx="3549063" cy="81816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3CF1D66-383C-D47B-028C-1154776F98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479881" y="3166259"/>
              <a:ext cx="1299411" cy="781929"/>
            </a:xfrm>
            <a:prstGeom prst="rect">
              <a:avLst/>
            </a:prstGeom>
          </p:spPr>
        </p:pic>
        <p:pic>
          <p:nvPicPr>
            <p:cNvPr id="1030" name="Picture 6" descr="Github Copilot icon in Windows 11 Color ...">
              <a:extLst>
                <a:ext uri="{FF2B5EF4-FFF2-40B4-BE49-F238E27FC236}">
                  <a16:creationId xmlns:a16="http://schemas.microsoft.com/office/drawing/2014/main" id="{DA2FE804-778B-4446-7DB1-6A2DF9E434F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51560" y="3166257"/>
              <a:ext cx="781930" cy="7819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GitHub Copilot ...">
              <a:extLst>
                <a:ext uri="{FF2B5EF4-FFF2-40B4-BE49-F238E27FC236}">
                  <a16:creationId xmlns:a16="http://schemas.microsoft.com/office/drawing/2014/main" id="{B196F211-1CEA-242A-5652-9DBEE53FDDA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4579" t="32858" r="30158" b="41766"/>
            <a:stretch>
              <a:fillRect/>
            </a:stretch>
          </p:blipFill>
          <p:spPr bwMode="auto">
            <a:xfrm>
              <a:off x="6316827" y="3286512"/>
              <a:ext cx="962527" cy="5414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158817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2D6EA0E-E5A4-E79B-05EF-5362D8DE2815}"/>
              </a:ext>
            </a:extLst>
          </p:cNvPr>
          <p:cNvSpPr/>
          <p:nvPr/>
        </p:nvSpPr>
        <p:spPr>
          <a:xfrm>
            <a:off x="-98395" y="0"/>
            <a:ext cx="12191082" cy="1383699"/>
          </a:xfrm>
          <a:prstGeom prst="rect">
            <a:avLst/>
          </a:prstGeom>
          <a:gradFill flip="none" rotWithShape="1">
            <a:gsLst>
              <a:gs pos="0">
                <a:srgbClr val="FF7800"/>
              </a:gs>
              <a:gs pos="17000">
                <a:srgbClr val="FC4515"/>
              </a:gs>
              <a:gs pos="88000">
                <a:srgbClr val="0437FF"/>
              </a:gs>
              <a:gs pos="72000">
                <a:srgbClr val="5D26FF"/>
              </a:gs>
              <a:gs pos="58000">
                <a:srgbClr val="C514CF"/>
              </a:gs>
              <a:gs pos="34000">
                <a:srgbClr val="FB0064"/>
              </a:gs>
              <a:gs pos="100000">
                <a:srgbClr val="1798FF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4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ky Text"/>
              <a:ea typeface="+mn-ea"/>
              <a:cs typeface="+mn-cs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F2BF6FAE-32CB-042E-B43F-9878EEB3E9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7999" y="5097990"/>
            <a:ext cx="8816002" cy="70608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GB" sz="2900">
                <a:solidFill>
                  <a:schemeClr val="bg1"/>
                </a:solidFill>
              </a:rPr>
              <a:t>Gen AI Tech Working Group </a:t>
            </a:r>
          </a:p>
        </p:txBody>
      </p:sp>
      <p:sp>
        <p:nvSpPr>
          <p:cNvPr id="4" name="Subtitle 4">
            <a:extLst>
              <a:ext uri="{FF2B5EF4-FFF2-40B4-BE49-F238E27FC236}">
                <a16:creationId xmlns:a16="http://schemas.microsoft.com/office/drawing/2014/main" id="{48007598-20F6-A6EB-2F50-CE94302F08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2166" y="5451033"/>
            <a:ext cx="10947667" cy="451093"/>
          </a:xfrm>
        </p:spPr>
        <p:txBody>
          <a:bodyPr>
            <a:normAutofit fontScale="47500" lnSpcReduction="20000"/>
          </a:bodyPr>
          <a:lstStyle/>
          <a:p>
            <a:endParaRPr lang="en-GB" dirty="0">
              <a:solidFill>
                <a:schemeClr val="bg1"/>
              </a:solidFill>
            </a:endParaRPr>
          </a:p>
          <a:p>
            <a:r>
              <a:rPr lang="en-GB" sz="2050" dirty="0">
                <a:solidFill>
                  <a:schemeClr val="bg1"/>
                </a:solidFill>
              </a:rPr>
              <a:t>5</a:t>
            </a:r>
            <a:r>
              <a:rPr lang="en-GB" sz="2050" baseline="30000" dirty="0">
                <a:solidFill>
                  <a:schemeClr val="bg1"/>
                </a:solidFill>
              </a:rPr>
              <a:t>th</a:t>
            </a:r>
            <a:r>
              <a:rPr lang="en-GB" sz="2050" dirty="0">
                <a:solidFill>
                  <a:schemeClr val="bg1"/>
                </a:solidFill>
              </a:rPr>
              <a:t> December 2025</a:t>
            </a:r>
          </a:p>
        </p:txBody>
      </p:sp>
      <p:pic>
        <p:nvPicPr>
          <p:cNvPr id="6" name="Picture 5" descr="A black and white sign with white text&#10;&#10;AI-generated content may be incorrect.">
            <a:extLst>
              <a:ext uri="{FF2B5EF4-FFF2-40B4-BE49-F238E27FC236}">
                <a16:creationId xmlns:a16="http://schemas.microsoft.com/office/drawing/2014/main" id="{12DF9690-F455-E90C-B6E8-7F21227FDD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6842" y="222058"/>
            <a:ext cx="4127915" cy="940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3261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6225D-C3FA-93D6-A825-0F76BA9DA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832" y="4299642"/>
            <a:ext cx="10948493" cy="705355"/>
          </a:xfrm>
        </p:spPr>
        <p:txBody>
          <a:bodyPr anchor="ctr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GB" sz="2500" dirty="0"/>
              <a:t>Technical Deep Dive</a:t>
            </a:r>
            <a:br>
              <a:rPr lang="en-GB" sz="2500" dirty="0"/>
            </a:br>
            <a:r>
              <a:rPr lang="en-GB" sz="3400" dirty="0"/>
              <a:t>AI Consumer Panel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579613-2423-9274-1E53-B08699D737A2}"/>
              </a:ext>
            </a:extLst>
          </p:cNvPr>
          <p:cNvSpPr txBox="1"/>
          <p:nvPr/>
        </p:nvSpPr>
        <p:spPr>
          <a:xfrm>
            <a:off x="2329543" y="357051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775225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Macintosh PowerPoint</Application>
  <PresentationFormat>Widescreen</PresentationFormat>
  <Paragraphs>5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Sky Text</vt:lpstr>
      <vt:lpstr>Office Theme</vt:lpstr>
      <vt:lpstr>PowerPoint Presentation</vt:lpstr>
      <vt:lpstr>Gen AI Tech Working Group </vt:lpstr>
      <vt:lpstr>Technical Deep Dive AI Consumer Panel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Prinsloo, Kevin (GenAI Solution Architect)</dc:creator>
  <cp:lastModifiedBy>Prinsloo, Kevin (GenAI Solution Architect)</cp:lastModifiedBy>
  <cp:revision>1</cp:revision>
  <dcterms:created xsi:type="dcterms:W3CDTF">2026-04-17T14:07:23Z</dcterms:created>
  <dcterms:modified xsi:type="dcterms:W3CDTF">2026-04-20T13:08:04Z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9bca4c2-e50b-486e-8f26-05163b174112_Enabled">
    <vt:lpwstr>true</vt:lpwstr>
  </property>
  <property fmtid="{D5CDD505-2E9C-101B-9397-08002B2CF9AE}" pid="3" name="MSIP_Label_99bca4c2-e50b-486e-8f26-05163b174112_SetDate">
    <vt:lpwstr>2026-04-20T13:08:04Z</vt:lpwstr>
  </property>
  <property fmtid="{D5CDD505-2E9C-101B-9397-08002B2CF9AE}" pid="4" name="MSIP_Label_99bca4c2-e50b-486e-8f26-05163b174112_Method">
    <vt:lpwstr>Privileged</vt:lpwstr>
  </property>
  <property fmtid="{D5CDD505-2E9C-101B-9397-08002B2CF9AE}" pid="5" name="MSIP_Label_99bca4c2-e50b-486e-8f26-05163b174112_Name">
    <vt:lpwstr>General - Prod</vt:lpwstr>
  </property>
  <property fmtid="{D5CDD505-2E9C-101B-9397-08002B2CF9AE}" pid="6" name="MSIP_Label_99bca4c2-e50b-486e-8f26-05163b174112_SiteId">
    <vt:lpwstr>68b865d5-cf18-4b2b-82a4-a4eddb9c5237</vt:lpwstr>
  </property>
  <property fmtid="{D5CDD505-2E9C-101B-9397-08002B2CF9AE}" pid="7" name="MSIP_Label_99bca4c2-e50b-486e-8f26-05163b174112_ActionId">
    <vt:lpwstr>33dfe961-7f29-4c5a-b653-2345bf289822</vt:lpwstr>
  </property>
  <property fmtid="{D5CDD505-2E9C-101B-9397-08002B2CF9AE}" pid="8" name="MSIP_Label_99bca4c2-e50b-486e-8f26-05163b174112_ContentBits">
    <vt:lpwstr>0</vt:lpwstr>
  </property>
  <property fmtid="{D5CDD505-2E9C-101B-9397-08002B2CF9AE}" pid="9" name="MSIP_Label_99bca4c2-e50b-486e-8f26-05163b174112_Tag">
    <vt:lpwstr>50, 0, 1, 1</vt:lpwstr>
  </property>
</Properties>
</file>