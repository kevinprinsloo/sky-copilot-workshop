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226"/>
    <p:restoredTop sz="94610"/>
  </p:normalViewPr>
  <p:slideViewPr>
    <p:cSldViewPr snapToGrid="0" snapToObjects="1">
      <p:cViewPr varScale="1">
        <p:scale>
          <a:sx n="179" d="100"/>
          <a:sy n="179" d="100"/>
        </p:scale>
        <p:origin x="10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54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84048"/>
          </a:xfrm>
          <a:prstGeom prst="rect">
            <a:avLst/>
          </a:prstGeom>
          <a:solidFill>
            <a:srgbClr val="0C354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capability ecosystem — reference architecture v2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42062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Agentic AI North Star sits above — consumes via API / A2A / MCP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612648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FF9DB"/>
          </a:solidFill>
          <a:ln w="9525">
            <a:solidFill>
              <a:srgbClr val="F08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12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apps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48840" y="612648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FF9DB"/>
          </a:solidFill>
          <a:ln w="9525">
            <a:solidFill>
              <a:srgbClr val="F08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612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31920" y="612648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FF9DB"/>
          </a:solidFill>
          <a:ln w="9525">
            <a:solidFill>
              <a:srgbClr val="F08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612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15000" y="612648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FF9DB"/>
          </a:solidFill>
          <a:ln w="9525">
            <a:solidFill>
              <a:srgbClr val="F08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612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etc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98080" y="612648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FF9DB"/>
          </a:solidFill>
          <a:ln w="9525">
            <a:solidFill>
              <a:srgbClr val="F08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612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apps etc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877824"/>
            <a:ext cx="8961120" cy="475488"/>
          </a:xfrm>
          <a:prstGeom prst="roundRect">
            <a:avLst>
              <a:gd name="adj" fmla="val 15385"/>
            </a:avLst>
          </a:prstGeom>
          <a:solidFill>
            <a:srgbClr val="FFFFFF">
              <a:alpha val="0"/>
            </a:srgbClr>
          </a:solidFill>
          <a:ln w="9525">
            <a:solidFill>
              <a:srgbClr val="ADB5B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65760" y="91440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integration plane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1115568"/>
            <a:ext cx="2810256" cy="201168"/>
          </a:xfrm>
          <a:prstGeom prst="roundRect">
            <a:avLst>
              <a:gd name="adj" fmla="val 22727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115568"/>
            <a:ext cx="281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interface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58312" y="1115568"/>
            <a:ext cx="2810256" cy="201168"/>
          </a:xfrm>
          <a:prstGeom prst="roundRect">
            <a:avLst>
              <a:gd name="adj" fmla="val 22727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58312" y="1115568"/>
            <a:ext cx="281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&amp; client libraries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05144" y="1115568"/>
            <a:ext cx="2810256" cy="201168"/>
          </a:xfrm>
          <a:prstGeom prst="roundRect">
            <a:avLst>
              <a:gd name="adj" fmla="val 22727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5144" y="1115568"/>
            <a:ext cx="2810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1399032"/>
            <a:ext cx="896112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0"/>
            </a:srgbClr>
          </a:solidFill>
          <a:ln w="9525">
            <a:solidFill>
              <a:srgbClr val="ADB5B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5760" y="14356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patterns (vocabulary — Sky-endorsed use cases)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163677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63677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46604" y="163677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6604" y="163677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discovery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81728" y="163677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163677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6852" y="163677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16852" y="163677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" y="1874520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1874520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46604" y="1874520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6604" y="1874520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81728" y="1874520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1874520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16852" y="1874520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E7F5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6852" y="1874520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2039112"/>
            <a:ext cx="89611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0"/>
            </a:srgbClr>
          </a:solidFill>
          <a:ln w="9525">
            <a:solidFill>
              <a:srgbClr val="ADB5BD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65760" y="207568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platform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295144"/>
            <a:ext cx="0" cy="905256"/>
          </a:xfrm>
          <a:prstGeom prst="line">
            <a:avLst/>
          </a:prstGeom>
          <a:noFill/>
          <a:ln w="9525">
            <a:solidFill>
              <a:srgbClr val="DEE2E6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274320" y="22585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54880" y="225856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Run-time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2423160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423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studio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11480" y="2660904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26609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 &amp; versioning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1480" y="2898648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898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&amp; template catalogue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1480" y="3136392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136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workbench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1480" y="3374136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3741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datasets &amp; ground truth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1480" y="3611880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6118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pipeline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46320" y="2423160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2423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runtime / orchestrator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846320" y="2660904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26609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manager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46320" y="2898648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28986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store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46320" y="3136392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1363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validator (faithfulness)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46320" y="3374136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33741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service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46320" y="3611880"/>
            <a:ext cx="4206240" cy="201168"/>
          </a:xfrm>
          <a:prstGeom prst="roundRect">
            <a:avLst>
              <a:gd name="adj" fmla="val 22727"/>
            </a:avLst>
          </a:prstGeom>
          <a:solidFill>
            <a:srgbClr val="E3FAFC"/>
          </a:solidFill>
          <a:ln w="9525">
            <a:solidFill>
              <a:srgbClr val="0C85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36118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&amp; fallback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74320" y="3319272"/>
            <a:ext cx="896112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0"/>
            </a:srgbClr>
          </a:solidFill>
          <a:ln w="9525">
            <a:solidFill>
              <a:srgbClr val="ADB5BD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365760" y="33558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plane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74320" y="35387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subsystem (build-time)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411480" y="3666744"/>
            <a:ext cx="1671523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1480" y="3666744"/>
            <a:ext cx="1671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119579" y="3666744"/>
            <a:ext cx="1671523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19579" y="3666744"/>
            <a:ext cx="1671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parsing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827678" y="3666744"/>
            <a:ext cx="1671523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27678" y="3666744"/>
            <a:ext cx="1671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classify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535778" y="3666744"/>
            <a:ext cx="1671523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35778" y="3666744"/>
            <a:ext cx="1671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43877" y="3666744"/>
            <a:ext cx="1671523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43877" y="3666744"/>
            <a:ext cx="16715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index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083003" y="3767328"/>
            <a:ext cx="36576" cy="0"/>
          </a:xfrm>
          <a:prstGeom prst="line">
            <a:avLst/>
          </a:prstGeom>
          <a:noFill/>
          <a:ln w="19050">
            <a:solidFill>
              <a:srgbClr val="D9480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91102" y="3767328"/>
            <a:ext cx="36576" cy="0"/>
          </a:xfrm>
          <a:prstGeom prst="line">
            <a:avLst/>
          </a:prstGeom>
          <a:noFill/>
          <a:ln w="19050">
            <a:solidFill>
              <a:srgbClr val="D9480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99202" y="3767328"/>
            <a:ext cx="36576" cy="0"/>
          </a:xfrm>
          <a:prstGeom prst="line">
            <a:avLst/>
          </a:prstGeom>
          <a:noFill/>
          <a:ln w="19050">
            <a:solidFill>
              <a:srgbClr val="D9480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07301" y="3767328"/>
            <a:ext cx="36576" cy="0"/>
          </a:xfrm>
          <a:prstGeom prst="line">
            <a:avLst/>
          </a:prstGeom>
          <a:noFill/>
          <a:ln w="19050">
            <a:solidFill>
              <a:srgbClr val="D9480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4320" y="3886200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subsystem (run-time)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11480" y="401421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1480" y="401421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store(s)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546604" y="401421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546604" y="401421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681728" y="401421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81728" y="401421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filter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816852" y="4014216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16852" y="4014216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11480" y="4160520"/>
            <a:ext cx="8686800" cy="201168"/>
          </a:xfrm>
          <a:prstGeom prst="roundRect">
            <a:avLst>
              <a:gd name="adj" fmla="val 22727"/>
            </a:avLst>
          </a:prstGeom>
          <a:solidFill>
            <a:srgbClr val="FFF4E6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41605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48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pipeline — OCR · layout · extraction · classification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74320" y="4462272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cache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444752" y="4462272"/>
            <a:ext cx="6547104" cy="256032"/>
          </a:xfrm>
          <a:prstGeom prst="roundRect">
            <a:avLst>
              <a:gd name="adj" fmla="val 17857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44752" y="4462272"/>
            <a:ext cx="6547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API &amp; MCP gateway(s) — enforcement point of control plane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8065008" y="4462272"/>
            <a:ext cx="1170432" cy="256032"/>
          </a:xfrm>
          <a:prstGeom prst="roundRect">
            <a:avLst>
              <a:gd name="adj" fmla="val 17857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065008" y="44622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cache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274320" y="4773168"/>
            <a:ext cx="8961120" cy="658368"/>
          </a:xfrm>
          <a:prstGeom prst="roundRect">
            <a:avLst>
              <a:gd name="adj" fmla="val 11111"/>
            </a:avLst>
          </a:prstGeom>
          <a:solidFill>
            <a:srgbClr val="FFFFFF">
              <a:alpha val="0"/>
            </a:srgbClr>
          </a:solidFill>
          <a:ln w="9525">
            <a:solidFill>
              <a:srgbClr val="ADB5BD"/>
            </a:solidFill>
            <a:prstDash val="dash"/>
          </a:ln>
        </p:spPr>
      </p:sp>
      <p:sp>
        <p:nvSpPr>
          <p:cNvPr id="105" name="Text 103"/>
          <p:cNvSpPr/>
          <p:nvPr/>
        </p:nvSpPr>
        <p:spPr>
          <a:xfrm>
            <a:off x="365760" y="480974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plane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411480" y="5010912"/>
            <a:ext cx="4233672" cy="201168"/>
          </a:xfrm>
          <a:prstGeom prst="roundRect">
            <a:avLst>
              <a:gd name="adj" fmla="val 22727"/>
            </a:avLst>
          </a:prstGeom>
          <a:solidFill>
            <a:srgbClr val="F3F0FF"/>
          </a:solidFill>
          <a:ln w="9525">
            <a:solidFill>
              <a:srgbClr val="6741D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11480" y="5010912"/>
            <a:ext cx="4233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 (Fluxion · Kong · Portkey)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681728" y="5010912"/>
            <a:ext cx="4233672" cy="201168"/>
          </a:xfrm>
          <a:prstGeom prst="roundRect">
            <a:avLst>
              <a:gd name="adj" fmla="val 22727"/>
            </a:avLst>
          </a:prstGeom>
          <a:solidFill>
            <a:srgbClr val="F3F0FF"/>
          </a:solidFill>
          <a:ln w="9525">
            <a:solidFill>
              <a:srgbClr val="6741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681728" y="5010912"/>
            <a:ext cx="4233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model router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411480" y="5230368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3F0FF"/>
          </a:solidFill>
          <a:ln w="9525">
            <a:solidFill>
              <a:srgbClr val="6741D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11480" y="5230368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&amp; open models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2546604" y="5230368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3F0FF"/>
          </a:solidFill>
          <a:ln w="9525">
            <a:solidFill>
              <a:srgbClr val="6741D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546604" y="5230368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681728" y="5230368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3F0FF"/>
          </a:solidFill>
          <a:ln w="9525">
            <a:solidFill>
              <a:srgbClr val="6741D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681728" y="5230368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&amp; re-rank models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6816852" y="5230368"/>
            <a:ext cx="2098548" cy="201168"/>
          </a:xfrm>
          <a:prstGeom prst="roundRect">
            <a:avLst>
              <a:gd name="adj" fmla="val 22727"/>
            </a:avLst>
          </a:prstGeom>
          <a:solidFill>
            <a:srgbClr val="F3F0FF"/>
          </a:solidFill>
          <a:ln w="9525">
            <a:solidFill>
              <a:srgbClr val="6741D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816852" y="5230368"/>
            <a:ext cx="20985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74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(vision / audio)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274320" y="546811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enterprise foundation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411480" y="5632704"/>
            <a:ext cx="2810256" cy="219456"/>
          </a:xfrm>
          <a:prstGeom prst="roundRect">
            <a:avLst>
              <a:gd name="adj" fmla="val 20833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11480" y="5632704"/>
            <a:ext cx="2810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3258312" y="5632704"/>
            <a:ext cx="2810256" cy="219456"/>
          </a:xfrm>
          <a:prstGeom prst="roundRect">
            <a:avLst>
              <a:gd name="adj" fmla="val 20833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258312" y="5632704"/>
            <a:ext cx="2810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 (Cortex)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105144" y="5632704"/>
            <a:ext cx="2810256" cy="219456"/>
          </a:xfrm>
          <a:prstGeom prst="roundRect">
            <a:avLst>
              <a:gd name="adj" fmla="val 20833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05144" y="5632704"/>
            <a:ext cx="2810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services &amp; APIs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274320" y="5742432"/>
            <a:ext cx="1161288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0"/>
            </a:srgbClr>
          </a:solidFill>
          <a:ln w="9525">
            <a:solidFill>
              <a:srgbClr val="ADB5BD"/>
            </a:solidFill>
            <a:prstDash val="dash"/>
          </a:ln>
        </p:spPr>
      </p:sp>
      <p:sp>
        <p:nvSpPr>
          <p:cNvPr id="126" name="Text 124"/>
          <p:cNvSpPr/>
          <p:nvPr/>
        </p:nvSpPr>
        <p:spPr>
          <a:xfrm>
            <a:off x="365760" y="5779008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plane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274320" y="5943600"/>
            <a:ext cx="1161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visibility — watches all planes above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11480" y="60624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0F6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11480" y="6062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276856" y="60624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0F6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276856" y="6062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&amp; logs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4142232" y="60624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0F6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142232" y="6062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lineage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6007608" y="60624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0F6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007608" y="6062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reporting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7872984" y="60624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0F6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872984" y="6062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results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9738360" y="6062472"/>
            <a:ext cx="1828800" cy="201168"/>
          </a:xfrm>
          <a:prstGeom prst="roundRect">
            <a:avLst>
              <a:gd name="adj" fmla="val 22727"/>
            </a:avLst>
          </a:prstGeom>
          <a:solidFill>
            <a:srgbClr val="FFF0F6"/>
          </a:solidFill>
          <a:ln w="9525">
            <a:solidFill>
              <a:srgbClr val="C2255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9738360" y="6062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22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274320" y="6263640"/>
            <a:ext cx="11612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signals → golden datasets · fine-tuning · prompt registry · model router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418320" y="877824"/>
            <a:ext cx="2468880" cy="4791456"/>
          </a:xfrm>
          <a:prstGeom prst="roundRect">
            <a:avLst>
              <a:gd name="adj" fmla="val 2963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418320" y="9144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300" dirty="0"/>
          </a:p>
        </p:txBody>
      </p:sp>
      <p:sp>
        <p:nvSpPr>
          <p:cNvPr id="143" name="Text 141"/>
          <p:cNvSpPr/>
          <p:nvPr/>
        </p:nvSpPr>
        <p:spPr>
          <a:xfrm>
            <a:off x="9418320" y="1115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authority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9509760" y="1261872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509760" y="1261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9509760" y="1453896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509760" y="145389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safety filters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9509760" y="1645920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9509760" y="1645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DLP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9509760" y="1837944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9509760" y="18379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defence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9509760" y="2029968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509760" y="2029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management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9509760" y="2221992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509760" y="2221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9509760" y="2414016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509760" y="2414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agent identity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9509760" y="2606040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509760" y="26060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509760" y="2798064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509760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9509760" y="2990088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509760" y="29900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as code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509760" y="3182112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509760" y="3182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policy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9509760" y="3374136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509760" y="3374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&amp; rate budgets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9509760" y="3566160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9509760" y="3566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9509760" y="3758184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F8F9FA"/>
          </a:solidFill>
          <a:ln w="9525">
            <a:solidFill>
              <a:srgbClr val="868E9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509760" y="37581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9418320" y="40233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points</a:t>
            </a:r>
            <a:endParaRPr lang="en-US" sz="900" dirty="0"/>
          </a:p>
        </p:txBody>
      </p:sp>
      <p:sp>
        <p:nvSpPr>
          <p:cNvPr id="173" name="Text 171"/>
          <p:cNvSpPr/>
          <p:nvPr/>
        </p:nvSpPr>
        <p:spPr>
          <a:xfrm>
            <a:off x="9418320" y="4160520"/>
            <a:ext cx="2468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pushes policy to ↓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9509760" y="4297680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509760" y="4297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(runtime)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509760" y="4489704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509760" y="44897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validator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9509760" y="4681728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509760" y="4681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filter (RAG)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9509760" y="4873752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EBFBEE"/>
          </a:solidFill>
          <a:ln w="9525">
            <a:solidFill>
              <a:srgbClr val="2F9E44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9509760" y="48737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classifier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9418320" y="5440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TRiSM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9418320" y="4389120"/>
            <a:ext cx="0" cy="201168"/>
          </a:xfrm>
          <a:prstGeom prst="line">
            <a:avLst/>
          </a:prstGeom>
          <a:noFill/>
          <a:ln w="9525">
            <a:solidFill>
              <a:srgbClr val="E03131"/>
            </a:solidFill>
            <a:prstDash val="lgDash"/>
          </a:ln>
        </p:spPr>
      </p:sp>
      <p:sp>
        <p:nvSpPr>
          <p:cNvPr id="184" name="Text 182"/>
          <p:cNvSpPr/>
          <p:nvPr/>
        </p:nvSpPr>
        <p:spPr>
          <a:xfrm>
            <a:off x="274320" y="6364224"/>
            <a:ext cx="1161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DB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Multi-cloud: Azure AI Foundry · GCP Vertex AI · AWS Bedrock · on-premises Cloud Grid   |   Patterns are portable across environments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5760720" y="658368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E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Macintosh PowerPoint</Application>
  <PresentationFormat>Widescreen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 GenAI Capability Ecosystem v2</dc:title>
  <dc:subject>PptxGenJS Presentation</dc:subject>
  <dc:creator>Sky Group AI</dc:creator>
  <cp:lastModifiedBy>Prinsloo, Kevin (GenAI Solution Architect)</cp:lastModifiedBy>
  <cp:revision>2</cp:revision>
  <dcterms:created xsi:type="dcterms:W3CDTF">2026-04-20T09:42:31Z</dcterms:created>
  <dcterms:modified xsi:type="dcterms:W3CDTF">2026-04-20T13:07:40Z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ca4c2-e50b-486e-8f26-05163b174112_Enabled">
    <vt:lpwstr>true</vt:lpwstr>
  </property>
  <property fmtid="{D5CDD505-2E9C-101B-9397-08002B2CF9AE}" pid="3" name="MSIP_Label_99bca4c2-e50b-486e-8f26-05163b174112_SetDate">
    <vt:lpwstr>2026-04-20T13:07:40Z</vt:lpwstr>
  </property>
  <property fmtid="{D5CDD505-2E9C-101B-9397-08002B2CF9AE}" pid="4" name="MSIP_Label_99bca4c2-e50b-486e-8f26-05163b174112_Method">
    <vt:lpwstr>Privileged</vt:lpwstr>
  </property>
  <property fmtid="{D5CDD505-2E9C-101B-9397-08002B2CF9AE}" pid="5" name="MSIP_Label_99bca4c2-e50b-486e-8f26-05163b174112_Name">
    <vt:lpwstr>General - Prod</vt:lpwstr>
  </property>
  <property fmtid="{D5CDD505-2E9C-101B-9397-08002B2CF9AE}" pid="6" name="MSIP_Label_99bca4c2-e50b-486e-8f26-05163b174112_SiteId">
    <vt:lpwstr>68b865d5-cf18-4b2b-82a4-a4eddb9c5237</vt:lpwstr>
  </property>
  <property fmtid="{D5CDD505-2E9C-101B-9397-08002B2CF9AE}" pid="7" name="MSIP_Label_99bca4c2-e50b-486e-8f26-05163b174112_ActionId">
    <vt:lpwstr>10af94e0-8589-4774-9d2c-c084e98f08d8</vt:lpwstr>
  </property>
  <property fmtid="{D5CDD505-2E9C-101B-9397-08002B2CF9AE}" pid="8" name="MSIP_Label_99bca4c2-e50b-486e-8f26-05163b174112_ContentBits">
    <vt:lpwstr>0</vt:lpwstr>
  </property>
  <property fmtid="{D5CDD505-2E9C-101B-9397-08002B2CF9AE}" pid="9" name="MSIP_Label_99bca4c2-e50b-486e-8f26-05163b174112_Tag">
    <vt:lpwstr>50, 0, 1, 1</vt:lpwstr>
  </property>
</Properties>
</file>